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61466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72099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10070110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1749399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89979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414034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847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9905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52327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3559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9352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067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0F1ED8-48EC-E5D6-D7BE-2592F3A75B18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9773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21062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9469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B5CC6-D561-C173-AE8F-433B06D4C1E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6775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9821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7648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777D93-018C-16A5-0575-0FE2204526BD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8042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203125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5027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E48D10-8651-1EE2-0277-A0E7102D146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5353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7444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35516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50A845-8A6B-F3A2-614E-E8DA78C90F06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4461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7023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4814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0157C5-5F44-30AA-3B6F-D4101D29901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116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7166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41300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8BF309-84DC-AAC0-B5E5-3274D80FA1C1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781279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3067311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6758878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060235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388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2770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531689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030899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217002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6917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58408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334137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558415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253823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3722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4340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146264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848423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607340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941628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2059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137716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842010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6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555835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2862347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1288325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0424542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36423510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2101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58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8440639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1885390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78656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87104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06369021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94056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401548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47659121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612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5873817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176926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2147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948403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1385310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5825475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182895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7507082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3785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7875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5212848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194597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520337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6266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9458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5322331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680850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4711267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2341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08255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144066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0158723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2132272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402453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universal-robots.com/media/1807465/ur5e_e-series_datasheets_web.pdf" TargetMode="External"/><Relationship Id="rId4" Type="http://schemas.openxmlformats.org/officeDocument/2006/relationships/hyperlink" Target="https://s3-eu-west-1.amazonaws.com/ur-support-site/50567/UR5e_User_Manual_it_Global.pdf" TargetMode="External"/><Relationship Id="rId5" Type="http://schemas.openxmlformats.org/officeDocument/2006/relationships/hyperlink" Target="https://vention.com/designs/dual-ur5-workstation-127088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jpg"/><Relationship Id="rId8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s://github.com/UniversalRobots/Universal_Robots_ROS2_Description/tree/jazzy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hyperlink" Target="https://www.universal-robots.com/media/1807465/ur5e_e-series_datasheets_web.pdf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forum.universal-robots.com/t/maximum-axis-speed-acceleration/13338" TargetMode="External"/><Relationship Id="rId4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universal-robots.com/articles/ur/robot-care-maintenance/max-joint-torques-cb3-and-e-series/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google-deepmind/mujoco_menagerie/tree/main/universal_robots_ur5e" TargetMode="External"/><Relationship Id="rId4" Type="http://schemas.openxmlformats.org/officeDocument/2006/relationships/image" Target="../media/image11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323641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9" y="522338"/>
            <a:ext cx="9144000" cy="1097987"/>
          </a:xfrm>
        </p:spPr>
        <p:txBody>
          <a:bodyPr/>
          <a:lstStyle/>
          <a:p>
            <a:pPr>
              <a:defRPr/>
            </a:pPr>
            <a:r>
              <a:rPr lang="it-IT">
                <a:solidFill>
                  <a:srgbClr val="002060"/>
                </a:solidFill>
              </a:rPr>
              <a:t>UR5e</a:t>
            </a:r>
            <a:r>
              <a:rPr lang="it-IT">
                <a:solidFill>
                  <a:srgbClr val="002060"/>
                </a:solidFill>
              </a:rPr>
              <a:t> and environment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1257284316" name=""/>
          <p:cNvSpPr txBox="1"/>
          <p:nvPr/>
        </p:nvSpPr>
        <p:spPr bwMode="auto">
          <a:xfrm rot="0" flipH="0" flipV="0">
            <a:off x="201657" y="5892936"/>
            <a:ext cx="11707746" cy="9147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pdf datasheet: </a:t>
            </a:r>
            <a:r>
              <a:rPr lang="it-IT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https://www.universal-robots.com/media/1807465/ur5e_e-series_datasheets_web.pdf</a:t>
            </a:r>
            <a:endParaRPr lang="it-IT"/>
          </a:p>
          <a:p>
            <a:pPr>
              <a:defRPr/>
            </a:pPr>
            <a:r>
              <a:rPr lang="it-IT"/>
              <a:t>user manual (ITA): </a:t>
            </a:r>
            <a:r>
              <a:rPr lang="it-IT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"/>
              </a:rPr>
              <a:t>https://s3-eu-west-1.amazonaws.com/ur-support-site/50567/UR5e_User_Manual_it_Global.pdf</a:t>
            </a:r>
            <a:endParaRPr lang="it-IT"/>
          </a:p>
          <a:p>
            <a:pPr>
              <a:defRPr/>
            </a:pPr>
            <a:r>
              <a:rPr lang="it-IT"/>
              <a:t>vention website: </a:t>
            </a:r>
            <a:r>
              <a:rPr lang="it-IT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5" tooltip=""/>
              </a:rPr>
              <a:t>https://vention.com/designs/dual-ur5-workstation-127088</a:t>
            </a:r>
            <a:endParaRPr lang="it-IT"/>
          </a:p>
        </p:txBody>
      </p:sp>
      <p:pic>
        <p:nvPicPr>
          <p:cNvPr id="163562965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287028" y="2139645"/>
            <a:ext cx="2314125" cy="3114861"/>
          </a:xfrm>
          <a:prstGeom prst="rect">
            <a:avLst/>
          </a:prstGeom>
        </p:spPr>
      </p:pic>
      <p:pic>
        <p:nvPicPr>
          <p:cNvPr id="1927842170" name=""/>
          <p:cNvPicPr>
            <a:picLocks noChangeAspect="1"/>
          </p:cNvPicPr>
          <p:nvPr/>
        </p:nvPicPr>
        <p:blipFill rotWithShape="1">
          <a:blip r:embed="rId7"/>
          <a:srcRect l="2631" t="4574" r="3950" b="3532"/>
          <a:stretch/>
        </p:blipFill>
        <p:spPr bwMode="auto">
          <a:xfrm flipH="0" flipV="0">
            <a:off x="1003468" y="2197819"/>
            <a:ext cx="3428337" cy="2986087"/>
          </a:xfrm>
          <a:prstGeom prst="rect">
            <a:avLst/>
          </a:prstGeom>
        </p:spPr>
      </p:pic>
      <p:pic>
        <p:nvPicPr>
          <p:cNvPr id="1146465950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8593463" y="2061564"/>
            <a:ext cx="2497193" cy="3523583"/>
          </a:xfrm>
          <a:prstGeom prst="rect">
            <a:avLst/>
          </a:prstGeom>
        </p:spPr>
      </p:pic>
      <p:sp>
        <p:nvSpPr>
          <p:cNvPr id="726556902" name=""/>
          <p:cNvSpPr/>
          <p:nvPr/>
        </p:nvSpPr>
        <p:spPr bwMode="auto">
          <a:xfrm rot="0" flipH="0" flipV="0">
            <a:off x="4918500" y="3480792"/>
            <a:ext cx="559593" cy="535781"/>
          </a:xfrm>
          <a:prstGeom prst="mathPlus">
            <a:avLst>
              <a:gd name="adj1" fmla="val 23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6599055" name=""/>
          <p:cNvSpPr/>
          <p:nvPr/>
        </p:nvSpPr>
        <p:spPr bwMode="auto">
          <a:xfrm rot="0" flipH="0" flipV="0">
            <a:off x="7311656" y="3381374"/>
            <a:ext cx="571500" cy="583405"/>
          </a:xfrm>
          <a:prstGeom prst="mathMinus">
            <a:avLst>
              <a:gd name="adj1" fmla="val 23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72730712" name=""/>
          <p:cNvSpPr/>
          <p:nvPr/>
        </p:nvSpPr>
        <p:spPr bwMode="auto">
          <a:xfrm rot="0" flipH="0" flipV="0">
            <a:off x="7311656" y="3577827"/>
            <a:ext cx="571500" cy="583405"/>
          </a:xfrm>
          <a:prstGeom prst="mathMinus">
            <a:avLst>
              <a:gd name="adj1" fmla="val 23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62552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8" y="522337"/>
            <a:ext cx="9144000" cy="1097986"/>
          </a:xfrm>
        </p:spPr>
        <p:txBody>
          <a:bodyPr/>
          <a:lstStyle/>
          <a:p>
            <a:pPr>
              <a:defRPr/>
            </a:pPr>
            <a:r>
              <a:rPr lang="it-IT">
                <a:solidFill>
                  <a:srgbClr val="002060"/>
                </a:solidFill>
              </a:rPr>
              <a:t>Already known parameters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1207710149" name=""/>
          <p:cNvPicPr>
            <a:picLocks noChangeAspect="1"/>
          </p:cNvPicPr>
          <p:nvPr/>
        </p:nvPicPr>
        <p:blipFill rotWithShape="1">
          <a:blip r:embed="rId3"/>
          <a:srcRect l="0" t="0" r="29842" b="0"/>
          <a:stretch/>
        </p:blipFill>
        <p:spPr bwMode="auto">
          <a:xfrm flipH="0" flipV="0">
            <a:off x="826695" y="2687990"/>
            <a:ext cx="4960665" cy="1905352"/>
          </a:xfrm>
          <a:prstGeom prst="rect">
            <a:avLst/>
          </a:prstGeom>
        </p:spPr>
      </p:pic>
      <p:sp>
        <p:nvSpPr>
          <p:cNvPr id="897767223" name=""/>
          <p:cNvSpPr txBox="1"/>
          <p:nvPr/>
        </p:nvSpPr>
        <p:spPr bwMode="auto">
          <a:xfrm rot="0" flipH="0" flipV="0">
            <a:off x="1095416" y="2187222"/>
            <a:ext cx="379161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from ros2 package: </a:t>
            </a:r>
            <a:r>
              <a:rPr lang="it-IT" b="1"/>
              <a:t>ur_description</a:t>
            </a:r>
            <a:endParaRPr b="1"/>
          </a:p>
        </p:txBody>
      </p:sp>
      <p:sp>
        <p:nvSpPr>
          <p:cNvPr id="1762515620" name=""/>
          <p:cNvSpPr txBox="1"/>
          <p:nvPr/>
        </p:nvSpPr>
        <p:spPr bwMode="auto">
          <a:xfrm rot="0" flipH="0" flipV="0">
            <a:off x="201657" y="6102486"/>
            <a:ext cx="9242838" cy="9147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repo: </a:t>
            </a:r>
            <a:r>
              <a:rPr lang="it-IT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"/>
              </a:rPr>
              <a:t>https://github.com/UniversalRobots/Universal_Robots_ROS2_Description/tree/jazzy</a:t>
            </a:r>
            <a:endParaRPr lang="it-IT"/>
          </a:p>
          <a:p>
            <a:pPr>
              <a:defRPr/>
            </a:pPr>
            <a:r>
              <a:rPr lang="it-IT"/>
              <a:t>installing apt: 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sudo apt install ros-jazzy-ur-description</a:t>
            </a:r>
            <a:endParaRPr lang="it-IT"/>
          </a:p>
          <a:p>
            <a:pPr>
              <a:defRPr/>
            </a:pPr>
            <a:endParaRPr lang="it-IT"/>
          </a:p>
        </p:txBody>
      </p:sp>
      <p:sp>
        <p:nvSpPr>
          <p:cNvPr id="802470112" name=""/>
          <p:cNvSpPr txBox="1"/>
          <p:nvPr/>
        </p:nvSpPr>
        <p:spPr bwMode="auto">
          <a:xfrm rot="0" flipH="0" flipV="0">
            <a:off x="6387083" y="3046126"/>
            <a:ext cx="3639485" cy="1189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1 - kinematics (DH table)</a:t>
            </a:r>
            <a:endParaRPr lang="it-IT"/>
          </a:p>
          <a:p>
            <a:pPr>
              <a:defRPr/>
            </a:pPr>
            <a:r>
              <a:rPr lang="it-IT"/>
              <a:t>2 - joint position and velocity limits</a:t>
            </a:r>
            <a:endParaRPr lang="it-IT"/>
          </a:p>
          <a:p>
            <a:pPr>
              <a:defRPr/>
            </a:pPr>
            <a:r>
              <a:rPr lang="it-IT"/>
              <a:t>3 - inertial parameters</a:t>
            </a:r>
            <a:endParaRPr lang="it-IT"/>
          </a:p>
          <a:p>
            <a:pPr>
              <a:defRPr/>
            </a:pPr>
            <a:r>
              <a:rPr lang="it-IT"/>
              <a:t>4 - meshes</a:t>
            </a:r>
            <a:endParaRPr/>
          </a:p>
        </p:txBody>
      </p:sp>
      <p:sp>
        <p:nvSpPr>
          <p:cNvPr id="1428923620" name=""/>
          <p:cNvSpPr/>
          <p:nvPr/>
        </p:nvSpPr>
        <p:spPr bwMode="auto">
          <a:xfrm rot="3584613" flipH="0" flipV="0">
            <a:off x="1585914" y="4626896"/>
            <a:ext cx="634999" cy="232749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236327" name=""/>
          <p:cNvSpPr txBox="1"/>
          <p:nvPr/>
        </p:nvSpPr>
        <p:spPr bwMode="auto">
          <a:xfrm rot="0" flipH="0" flipV="0">
            <a:off x="2163915" y="5076158"/>
            <a:ext cx="663771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however we used: 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uclv_left_ur5e_kinematics.yaml</a:t>
            </a:r>
            <a:r>
              <a:rPr lang="it-IT"/>
              <a:t> (</a:t>
            </a:r>
            <a:r>
              <a:rPr lang="it-IT" b="1"/>
              <a:t>calibration</a:t>
            </a:r>
            <a:r>
              <a:rPr lang="it-IT"/>
              <a:t>) </a:t>
            </a:r>
            <a:endParaRPr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83035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8" y="522337"/>
            <a:ext cx="9144000" cy="1097986"/>
          </a:xfrm>
        </p:spPr>
        <p:txBody>
          <a:bodyPr/>
          <a:lstStyle/>
          <a:p>
            <a:pPr>
              <a:defRPr/>
            </a:pPr>
            <a:r>
              <a:rPr lang="it-IT">
                <a:solidFill>
                  <a:srgbClr val="002060"/>
                </a:solidFill>
              </a:rPr>
              <a:t>Speed </a:t>
            </a:r>
            <a:r>
              <a:rPr lang="it-IT">
                <a:solidFill>
                  <a:srgbClr val="002060"/>
                </a:solidFill>
              </a:rPr>
              <a:t>and position limits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19337053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647948" y="1985961"/>
            <a:ext cx="6896098" cy="3838573"/>
          </a:xfrm>
          <a:prstGeom prst="rect">
            <a:avLst/>
          </a:prstGeom>
        </p:spPr>
      </p:pic>
      <p:sp>
        <p:nvSpPr>
          <p:cNvPr id="10980802" name=""/>
          <p:cNvSpPr txBox="1"/>
          <p:nvPr/>
        </p:nvSpPr>
        <p:spPr bwMode="auto">
          <a:xfrm rot="0" flipH="0" flipV="0">
            <a:off x="201657" y="6314152"/>
            <a:ext cx="963752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source: </a:t>
            </a:r>
            <a:r>
              <a:rPr lang="it-IT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"/>
              </a:rPr>
              <a:t>https://www.universal-robots.com/media/1807465/ur5e_e-series_datasheets_web.pdf</a:t>
            </a:r>
            <a:endParaRPr lang="it-IT"/>
          </a:p>
        </p:txBody>
      </p:sp>
      <p:sp>
        <p:nvSpPr>
          <p:cNvPr id="1072735917" name=""/>
          <p:cNvSpPr txBox="1"/>
          <p:nvPr/>
        </p:nvSpPr>
        <p:spPr bwMode="auto">
          <a:xfrm rot="0" flipH="0" flipV="0">
            <a:off x="2878499" y="4267199"/>
            <a:ext cx="21685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*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45424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8" y="522337"/>
            <a:ext cx="9144000" cy="1097986"/>
          </a:xfrm>
        </p:spPr>
        <p:txBody>
          <a:bodyPr/>
          <a:lstStyle/>
          <a:p>
            <a:pPr>
              <a:defRPr/>
            </a:pPr>
            <a:r>
              <a:rPr lang="it-IT">
                <a:solidFill>
                  <a:srgbClr val="002060"/>
                </a:solidFill>
              </a:rPr>
              <a:t>Speed and position limits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1377166581" name=""/>
          <p:cNvPicPr>
            <a:picLocks noChangeAspect="1"/>
          </p:cNvPicPr>
          <p:nvPr/>
        </p:nvPicPr>
        <p:blipFill rotWithShape="1">
          <a:blip r:embed="rId3"/>
          <a:srcRect l="2540" t="23943" r="5144" b="0"/>
          <a:stretch/>
        </p:blipFill>
        <p:spPr bwMode="auto">
          <a:xfrm flipH="0" flipV="0">
            <a:off x="4641169" y="2361361"/>
            <a:ext cx="6698225" cy="3284197"/>
          </a:xfrm>
          <a:prstGeom prst="rect">
            <a:avLst/>
          </a:prstGeom>
        </p:spPr>
      </p:pic>
      <p:sp>
        <p:nvSpPr>
          <p:cNvPr id="22031513" name=""/>
          <p:cNvSpPr/>
          <p:nvPr/>
        </p:nvSpPr>
        <p:spPr bwMode="auto">
          <a:xfrm rot="18208576" flipH="0" flipV="0">
            <a:off x="6559700" y="3612492"/>
            <a:ext cx="399435" cy="196039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1179502" name=""/>
          <p:cNvSpPr txBox="1"/>
          <p:nvPr/>
        </p:nvSpPr>
        <p:spPr bwMode="auto">
          <a:xfrm rot="0" flipH="0" flipV="0">
            <a:off x="2060200" y="2593098"/>
            <a:ext cx="78088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*but...</a:t>
            </a:r>
            <a:endParaRPr/>
          </a:p>
        </p:txBody>
      </p:sp>
      <p:sp>
        <p:nvSpPr>
          <p:cNvPr id="459947096" name=""/>
          <p:cNvSpPr txBox="1"/>
          <p:nvPr/>
        </p:nvSpPr>
        <p:spPr bwMode="auto">
          <a:xfrm rot="0" flipH="0" flipV="0">
            <a:off x="846891" y="3534814"/>
            <a:ext cx="3372594" cy="93729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it-IT"/>
              <a:t>when elbow = </a:t>
            </a:r>
            <a:r>
              <a:rPr lang="it-IT">
                <a:latin typeface="Arial"/>
                <a:ea typeface="Arial"/>
                <a:cs typeface="Arial"/>
              </a:rPr>
              <a:t>±</a:t>
            </a:r>
            <a:r>
              <a:rPr lang="it-IT">
                <a:latin typeface="Arial"/>
                <a:ea typeface="Arial"/>
                <a:cs typeface="Arial"/>
              </a:rPr>
              <a:t>π</a:t>
            </a:r>
            <a:r>
              <a:rPr lang="it-IT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</m:oMath>
                  </m:oMathPara>
                </a14:m>
              </mc:Choice>
              <mc:Fallback/>
            </mc:AlternateContent>
            <a:r>
              <a:rPr lang="it-IT"/>
              <a:t> </a:t>
            </a:r>
            <a:r>
              <a:rPr lang="it-IT" b="1"/>
              <a:t>collision!!</a:t>
            </a:r>
            <a:endParaRPr lang="it-IT"/>
          </a:p>
          <a:p>
            <a:pPr algn="ctr">
              <a:defRPr/>
            </a:pPr>
            <a:endParaRPr/>
          </a:p>
          <a:p>
            <a:pPr algn="ctr">
              <a:defRPr/>
            </a:pPr>
            <a:r>
              <a:rPr lang="it-IT"/>
              <a:t>so.. we limit it to [-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π</a:t>
            </a:r>
            <a:r>
              <a:rPr lang="it-IT"/>
              <a:t>, </a:t>
            </a:r>
            <a:r>
              <a:rPr lang="it-I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+π]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353768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9" y="522338"/>
            <a:ext cx="9144000" cy="1097987"/>
          </a:xfrm>
        </p:spPr>
        <p:txBody>
          <a:bodyPr/>
          <a:lstStyle/>
          <a:p>
            <a:pPr>
              <a:defRPr/>
            </a:pPr>
            <a:r>
              <a:rPr lang="it-IT">
                <a:solidFill>
                  <a:srgbClr val="002060"/>
                </a:solidFill>
              </a:rPr>
              <a:t>Acceleration limits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832110548" name=""/>
          <p:cNvSpPr txBox="1"/>
          <p:nvPr/>
        </p:nvSpPr>
        <p:spPr bwMode="auto">
          <a:xfrm rot="0" flipH="0" flipV="0">
            <a:off x="201657" y="6314152"/>
            <a:ext cx="8823136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source: </a:t>
            </a:r>
            <a:r>
              <a:rPr lang="it-IT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https://forum.universal-robots.com/t/maximum-axis-speed-acceleration/13338</a:t>
            </a:r>
            <a:endParaRPr lang="it-IT"/>
          </a:p>
          <a:p>
            <a:pPr>
              <a:defRPr/>
            </a:pPr>
            <a:endParaRPr lang="it-IT"/>
          </a:p>
        </p:txBody>
      </p:sp>
      <p:pic>
        <p:nvPicPr>
          <p:cNvPr id="30968733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479603" y="2811103"/>
            <a:ext cx="9232791" cy="1235790"/>
          </a:xfrm>
          <a:prstGeom prst="rect">
            <a:avLst/>
          </a:prstGeom>
        </p:spPr>
      </p:pic>
      <p:sp>
        <p:nvSpPr>
          <p:cNvPr id="1058829858" name=""/>
          <p:cNvSpPr txBox="1"/>
          <p:nvPr/>
        </p:nvSpPr>
        <p:spPr bwMode="auto">
          <a:xfrm rot="0" flipH="0" flipV="0">
            <a:off x="8312901" y="6652134"/>
            <a:ext cx="1835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it-IT"/>
              <a:t> </a:t>
            </a:r>
            <a:endParaRPr lang="it-IT"/>
          </a:p>
        </p:txBody>
      </p:sp>
      <p:sp>
        <p:nvSpPr>
          <p:cNvPr id="1324678694" name=""/>
          <p:cNvSpPr txBox="1"/>
          <p:nvPr/>
        </p:nvSpPr>
        <p:spPr bwMode="auto">
          <a:xfrm rot="0" flipH="0" flipV="0">
            <a:off x="1630039" y="2166168"/>
            <a:ext cx="329680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we found on the official forum..</a:t>
            </a:r>
            <a:endParaRPr/>
          </a:p>
        </p:txBody>
      </p:sp>
      <p:sp>
        <p:nvSpPr>
          <p:cNvPr id="1257115030" name=""/>
          <p:cNvSpPr/>
          <p:nvPr/>
        </p:nvSpPr>
        <p:spPr bwMode="auto">
          <a:xfrm rot="0" flipH="0" flipV="0">
            <a:off x="2210722" y="4593507"/>
            <a:ext cx="1462583" cy="614516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748074393" name=""/>
          <p:cNvGraphicFramePr>
            <a:graphicFrameLocks xmlns:a="http://schemas.openxmlformats.org/drawingml/2006/main"/>
          </p:cNvGraphicFramePr>
          <p:nvPr/>
        </p:nvGraphicFramePr>
        <p:xfrm rot="0">
          <a:off x="3921636" y="4476503"/>
          <a:ext cx="8127999" cy="73151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294079"/>
                <a:gridCol w="3294079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Max Joint Acceleration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Max Cartesian Acceleration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/>
                        <a:t>800 °/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p>
                                  <m:sSupPr>
                                    <m:ctrlPr>
                                      <a:rPr lang="it-IT" sz="1800" b="0" i="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it-IT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it-IT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1800" b="0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2.5 m/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p>
                                  <m:sSupPr>
                                    <m:ctrlPr>
                                      <a:rPr lang="it-IT" sz="1800" b="0" i="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it-IT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it-IT" sz="18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366828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9" y="522338"/>
            <a:ext cx="9144000" cy="1097987"/>
          </a:xfrm>
        </p:spPr>
        <p:txBody>
          <a:bodyPr/>
          <a:lstStyle/>
          <a:p>
            <a:pPr>
              <a:defRPr/>
            </a:pPr>
            <a:r>
              <a:rPr lang="it-IT">
                <a:solidFill>
                  <a:srgbClr val="002060"/>
                </a:solidFill>
              </a:rPr>
              <a:t>Torque limits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1746227224" name=""/>
          <p:cNvSpPr txBox="1"/>
          <p:nvPr/>
        </p:nvSpPr>
        <p:spPr bwMode="auto">
          <a:xfrm rot="0" flipH="0" flipV="0">
            <a:off x="201657" y="6314152"/>
            <a:ext cx="11592550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source: </a:t>
            </a:r>
            <a:r>
              <a:rPr lang="it-IT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https://www.universal-robots.com/articles/ur/robot-care-maintenance/max-joint-torques-cb3-and-e-series/</a:t>
            </a:r>
            <a:endParaRPr lang="it-IT"/>
          </a:p>
          <a:p>
            <a:pPr>
              <a:defRPr/>
            </a:pPr>
            <a:endParaRPr lang="it-IT"/>
          </a:p>
        </p:txBody>
      </p:sp>
      <p:pic>
        <p:nvPicPr>
          <p:cNvPr id="193786764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071839" y="1702564"/>
            <a:ext cx="1826709" cy="3713423"/>
          </a:xfrm>
          <a:prstGeom prst="rect">
            <a:avLst/>
          </a:prstGeom>
        </p:spPr>
      </p:pic>
      <p:pic>
        <p:nvPicPr>
          <p:cNvPr id="76574031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020422" y="2688507"/>
            <a:ext cx="2458000" cy="2008238"/>
          </a:xfrm>
          <a:prstGeom prst="rect">
            <a:avLst/>
          </a:prstGeom>
        </p:spPr>
      </p:pic>
      <p:pic>
        <p:nvPicPr>
          <p:cNvPr id="436022956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275814" y="2632586"/>
            <a:ext cx="2627339" cy="2120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55098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8" y="522337"/>
            <a:ext cx="9144000" cy="1097986"/>
          </a:xfrm>
        </p:spPr>
        <p:txBody>
          <a:bodyPr/>
          <a:lstStyle/>
          <a:p>
            <a:pPr>
              <a:defRPr/>
            </a:pPr>
            <a:r>
              <a:rPr lang="it-IT">
                <a:solidFill>
                  <a:srgbClr val="002060"/>
                </a:solidFill>
              </a:rPr>
              <a:t>Actuators modeling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443021662" name=""/>
          <p:cNvSpPr txBox="1"/>
          <p:nvPr/>
        </p:nvSpPr>
        <p:spPr bwMode="auto">
          <a:xfrm rot="0" flipH="0" flipV="0">
            <a:off x="201657" y="6314152"/>
            <a:ext cx="9980868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/>
              <a:t>source: </a:t>
            </a:r>
            <a:r>
              <a:rPr lang="it-IT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https://github.com/google-deepmind/mujoco_menagerie/tree/main/universal_robots_ur5e</a:t>
            </a:r>
            <a:endParaRPr lang="it-IT"/>
          </a:p>
        </p:txBody>
      </p:sp>
      <p:graphicFrame>
        <p:nvGraphicFramePr>
          <p:cNvPr id="1512368582" name=""/>
          <p:cNvGraphicFramePr>
            <a:graphicFrameLocks xmlns:a="http://schemas.openxmlformats.org/drawingml/2006/main"/>
          </p:cNvGraphicFramePr>
          <p:nvPr/>
        </p:nvGraphicFramePr>
        <p:xfrm>
          <a:off x="1079499" y="2965591"/>
          <a:ext cx="5748555" cy="1784396"/>
        </p:xfrm>
        <a:graphic>
          <a:graphicData uri="http://schemas.openxmlformats.org/drawingml/2006/table">
            <a:tbl>
              <a:tblPr firstRow="0" firstCol="1" lastRow="0" lastCol="0" bandRow="1" bandCol="0">
                <a:tableStyleId>{5C22544A-7EE6-4342-B048-85BDC9FD1C3A}</a:tableStyleId>
              </a:tblPr>
              <a:tblGrid>
                <a:gridCol w="3262333"/>
                <a:gridCol w="3262333"/>
              </a:tblGrid>
              <a:tr h="446099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2000"/>
                        <a:t>Rotor inertia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2000"/>
                        <a:t>0.1 kg </a:t>
                      </a: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p>
                                  <m:sSupPr>
                                    <m:ctrlPr>
                                      <a:rPr lang="it-IT" sz="2000" b="0" i="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it-IT" sz="20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it-IT" sz="2000" u="none" strike="noStrike" cap="none" spc="0">
                                        <a:solidFill>
                                          <a:schemeClr val="dk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</mc:Choice>
                        <mc:Fallback/>
                      </mc:AlternateContent>
                      <a:endParaRPr sz="2000"/>
                    </a:p>
                  </a:txBody>
                  <a:tcPr/>
                </a:tc>
              </a:tr>
              <a:tr h="446099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2000"/>
                        <a:t>kp, kv Size1(small joints)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2000"/>
                        <a:t>kp=500 kv=100</a:t>
                      </a:r>
                      <a:endParaRPr sz="2000"/>
                    </a:p>
                  </a:txBody>
                  <a:tcPr/>
                </a:tc>
              </a:tr>
              <a:tr h="446099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2000" b="1" i="0" u="none" strike="noStrike" cap="none" spc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kp, kv Size3 (big joints)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2000" b="0" i="0" u="none" strike="noStrike" cap="none" spc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kp=2000 kv=400</a:t>
                      </a:r>
                      <a:endParaRPr sz="2000"/>
                    </a:p>
                  </a:txBody>
                  <a:tcPr/>
                </a:tc>
              </a:tr>
              <a:tr h="446099"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2000"/>
                        <a:t>Torque limits</a:t>
                      </a:r>
                      <a:endParaRPr lang="it-IT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it-IT" sz="2000"/>
                        <a:t>..see previous slide</a:t>
                      </a:r>
                      <a:endParaRPr sz="20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80858897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935912" y="2046565"/>
            <a:ext cx="3622447" cy="3622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2026-08-05T16:44:30Z</dcterms:modified>
</cp:coreProperties>
</file>